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321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217400" cy="6858001"/>
            <a:chOff x="-12700" y="0"/>
            <a:chExt cx="12217400" cy="6858001"/>
          </a:xfrm>
        </p:grpSpPr>
        <p:grpSp>
          <p:nvGrpSpPr>
            <p:cNvPr id="3" name="Group 3"/>
            <p:cNvGrpSpPr/>
            <p:nvPr/>
          </p:nvGrpSpPr>
          <p:grpSpPr>
            <a:xfrm>
              <a:off x="-12700" y="0"/>
              <a:ext cx="12217400" cy="6858001"/>
              <a:chOff x="-12700" y="0"/>
              <a:chExt cx="12217400" cy="6858001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-12700" y="0"/>
                <a:ext cx="12217400" cy="6858000"/>
                <a:chOff x="-12700" y="0"/>
                <a:chExt cx="12217400" cy="6858000"/>
              </a:xfrm>
            </p:grpSpPr>
            <p:pic>
              <p:nvPicPr>
                <p:cNvPr id="5" name="Picture 5"/>
                <p:cNvPicPr>
                  <a:picLocks noChangeAspect="1"/>
                </p:cNvPicPr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1930399" y="0"/>
                  <a:ext cx="10287000" cy="68580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</p:pic>
            <p:sp>
              <p:nvSpPr>
                <p:cNvPr id="6" name="AutoShape 6"/>
                <p:cNvSpPr/>
                <p:nvPr/>
              </p:nvSpPr>
              <p:spPr>
                <a:xfrm>
                  <a:off x="-12700" y="0"/>
                  <a:ext cx="12217400" cy="6858000"/>
                </a:xfrm>
                <a:prstGeom prst="rect">
                  <a:avLst/>
                </a:prstGeom>
                <a:gradFill>
                  <a:gsLst>
                    <a:gs pos="23999">
                      <a:srgbClr val="080808">
                        <a:alpha val="100000"/>
                      </a:srgbClr>
                    </a:gs>
                    <a:gs pos="69999">
                      <a:srgbClr val="080808">
                        <a:alpha val="0"/>
                      </a:srgbClr>
                    </a:gs>
                  </a:gsLst>
                  <a:lin ang="0"/>
                </a:gra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7" name="Group 7"/>
              <p:cNvGrpSpPr/>
              <p:nvPr/>
            </p:nvGrpSpPr>
            <p:grpSpPr>
              <a:xfrm>
                <a:off x="0" y="0"/>
                <a:ext cx="9814981" cy="6858001"/>
                <a:chOff x="0" y="0"/>
                <a:chExt cx="9814981" cy="6858001"/>
              </a:xfrm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0" y="0"/>
                  <a:ext cx="6934198" cy="68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4777" h="6831204">
                      <a:moveTo>
                        <a:pt x="3848267" y="0"/>
                      </a:moveTo>
                      <a:lnTo>
                        <a:pt x="6874777" y="0"/>
                      </a:lnTo>
                      <a:lnTo>
                        <a:pt x="6873339" y="169468"/>
                      </a:lnTo>
                      <a:cubicBezTo>
                        <a:pt x="6848685" y="1123887"/>
                        <a:pt x="6625177" y="2079303"/>
                        <a:pt x="6195608" y="2972028"/>
                      </a:cubicBezTo>
                      <a:cubicBezTo>
                        <a:pt x="5193281" y="5055052"/>
                        <a:pt x="3224194" y="6474367"/>
                        <a:pt x="977739" y="6796648"/>
                      </a:cubicBezTo>
                      <a:lnTo>
                        <a:pt x="655875" y="6831204"/>
                      </a:lnTo>
                      <a:lnTo>
                        <a:pt x="1" y="6831204"/>
                      </a:lnTo>
                      <a:lnTo>
                        <a:pt x="0" y="3841089"/>
                      </a:lnTo>
                      <a:cubicBezTo>
                        <a:pt x="1479446" y="3841089"/>
                        <a:pt x="2828050" y="2993410"/>
                        <a:pt x="3469540" y="1660274"/>
                      </a:cubicBezTo>
                      <a:cubicBezTo>
                        <a:pt x="3710099" y="1160348"/>
                        <a:pt x="3835263" y="625315"/>
                        <a:pt x="3849070" y="90841"/>
                      </a:cubicBezTo>
                      <a:close/>
                    </a:path>
                  </a:pathLst>
                </a:custGeom>
                <a:solidFill>
                  <a:srgbClr val="092584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7979157" y="5928784"/>
                  <a:ext cx="1835824" cy="929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5824" h="929217">
                      <a:moveTo>
                        <a:pt x="917912" y="0"/>
                      </a:moveTo>
                      <a:cubicBezTo>
                        <a:pt x="1424861" y="0"/>
                        <a:pt x="1835824" y="410963"/>
                        <a:pt x="1835824" y="917912"/>
                      </a:cubicBezTo>
                      <a:lnTo>
                        <a:pt x="1835253" y="929217"/>
                      </a:lnTo>
                      <a:lnTo>
                        <a:pt x="1372240" y="929217"/>
                      </a:lnTo>
                      <a:lnTo>
                        <a:pt x="1373380" y="917912"/>
                      </a:lnTo>
                      <a:cubicBezTo>
                        <a:pt x="1373380" y="666364"/>
                        <a:pt x="1169460" y="462444"/>
                        <a:pt x="917912" y="462444"/>
                      </a:cubicBezTo>
                      <a:cubicBezTo>
                        <a:pt x="666364" y="462444"/>
                        <a:pt x="462444" y="666364"/>
                        <a:pt x="462444" y="917912"/>
                      </a:cubicBezTo>
                      <a:lnTo>
                        <a:pt x="463584" y="929217"/>
                      </a:lnTo>
                      <a:lnTo>
                        <a:pt x="571" y="929217"/>
                      </a:lnTo>
                      <a:lnTo>
                        <a:pt x="0" y="917912"/>
                      </a:lnTo>
                      <a:cubicBezTo>
                        <a:pt x="0" y="410963"/>
                        <a:pt x="410963" y="0"/>
                        <a:pt x="917912" y="0"/>
                      </a:cubicBezTo>
                      <a:close/>
                    </a:path>
                  </a:pathLst>
                </a:custGeom>
                <a:solidFill>
                  <a:srgbClr val="0E58B2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id="10" name="Group 10"/>
            <p:cNvGrpSpPr/>
            <p:nvPr/>
          </p:nvGrpSpPr>
          <p:grpSpPr>
            <a:xfrm>
              <a:off x="1137063" y="4640073"/>
              <a:ext cx="457200" cy="457200"/>
              <a:chOff x="11061700" y="5789712"/>
              <a:chExt cx="457200" cy="457200"/>
            </a:xfrm>
            <a:solidFill>
              <a:srgbClr val="80916A">
                <a:alpha val="100000"/>
              </a:srgbClr>
            </a:solidFill>
          </p:grpSpPr>
          <p:sp>
            <p:nvSpPr>
              <p:cNvPr id="11" name="AutoShape 11"/>
              <p:cNvSpPr/>
              <p:nvPr/>
            </p:nvSpPr>
            <p:spPr>
              <a:xfrm>
                <a:off x="11061700" y="5789712"/>
                <a:ext cx="457200" cy="457200"/>
              </a:xfrm>
              <a:prstGeom prst="ellipse">
                <a:avLst/>
              </a:prstGeom>
              <a:solidFill>
                <a:srgbClr val="00A2E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 flipH="1">
                <a:off x="11290300" y="5951573"/>
                <a:ext cx="0" cy="133477"/>
              </a:xfrm>
              <a:prstGeom prst="straightConnector1">
                <a:avLst/>
              </a:prstGeom>
              <a:ln w="9525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arrow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217400" cy="6858001"/>
            <a:chOff x="-12700" y="0"/>
            <a:chExt cx="12217400" cy="6858001"/>
          </a:xfrm>
        </p:grpSpPr>
        <p:grpSp>
          <p:nvGrpSpPr>
            <p:cNvPr id="3" name="Group 3"/>
            <p:cNvGrpSpPr/>
            <p:nvPr/>
          </p:nvGrpSpPr>
          <p:grpSpPr>
            <a:xfrm>
              <a:off x="-12700" y="0"/>
              <a:ext cx="12217400" cy="6858000"/>
              <a:chOff x="-12700" y="0"/>
              <a:chExt cx="12217400" cy="6858000"/>
            </a:xfrm>
          </p:grpSpPr>
          <p:pic>
            <p:nvPicPr>
              <p:cNvPr id="4" name="Picture 4"/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930399" y="0"/>
                <a:ext cx="10287000" cy="685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sp>
            <p:nvSpPr>
              <p:cNvPr id="5" name="AutoShape 5"/>
              <p:cNvSpPr/>
              <p:nvPr/>
            </p:nvSpPr>
            <p:spPr>
              <a:xfrm>
                <a:off x="-12700" y="0"/>
                <a:ext cx="12217400" cy="6858000"/>
              </a:xfrm>
              <a:prstGeom prst="rect">
                <a:avLst/>
              </a:prstGeom>
              <a:gradFill>
                <a:gsLst>
                  <a:gs pos="23999">
                    <a:srgbClr val="080808">
                      <a:alpha val="100000"/>
                    </a:srgbClr>
                  </a:gs>
                  <a:gs pos="69999">
                    <a:srgbClr val="080808">
                      <a:alpha val="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7979157" y="5928784"/>
              <a:ext cx="1835824" cy="929217"/>
            </a:xfrm>
            <a:custGeom>
              <a:avLst/>
              <a:gdLst/>
              <a:ahLst/>
              <a:cxnLst/>
              <a:rect l="l" t="t" r="r" b="b"/>
              <a:pathLst>
                <a:path w="1835824" h="929217">
                  <a:moveTo>
                    <a:pt x="917912" y="0"/>
                  </a:moveTo>
                  <a:cubicBezTo>
                    <a:pt x="1424861" y="0"/>
                    <a:pt x="1835824" y="410963"/>
                    <a:pt x="1835824" y="917912"/>
                  </a:cubicBezTo>
                  <a:lnTo>
                    <a:pt x="1835253" y="929217"/>
                  </a:lnTo>
                  <a:lnTo>
                    <a:pt x="1372240" y="929217"/>
                  </a:lnTo>
                  <a:lnTo>
                    <a:pt x="1373380" y="917912"/>
                  </a:lnTo>
                  <a:cubicBezTo>
                    <a:pt x="1373380" y="666364"/>
                    <a:pt x="1169460" y="462444"/>
                    <a:pt x="917912" y="462444"/>
                  </a:cubicBezTo>
                  <a:cubicBezTo>
                    <a:pt x="666364" y="462444"/>
                    <a:pt x="462444" y="666364"/>
                    <a:pt x="462444" y="917912"/>
                  </a:cubicBezTo>
                  <a:lnTo>
                    <a:pt x="463584" y="929217"/>
                  </a:lnTo>
                  <a:lnTo>
                    <a:pt x="571" y="929217"/>
                  </a:lnTo>
                  <a:lnTo>
                    <a:pt x="0" y="917912"/>
                  </a:lnTo>
                  <a:cubicBezTo>
                    <a:pt x="0" y="410963"/>
                    <a:pt x="410963" y="0"/>
                    <a:pt x="917912" y="0"/>
                  </a:cubicBezTo>
                  <a:close/>
                </a:path>
              </a:pathLst>
            </a:custGeom>
            <a:solidFill>
              <a:srgbClr val="0E58B2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0F0F0">
                <a:alpha val="100000"/>
                <a:lumMod val="60000"/>
                <a:lumOff val="4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00000"/>
              <a:lumMod val="75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217400" cy="6858001"/>
            <a:chOff x="-12700" y="0"/>
            <a:chExt cx="12217400" cy="6858001"/>
          </a:xfrm>
        </p:grpSpPr>
        <p:grpSp>
          <p:nvGrpSpPr>
            <p:cNvPr id="3" name="Group 3"/>
            <p:cNvGrpSpPr/>
            <p:nvPr/>
          </p:nvGrpSpPr>
          <p:grpSpPr>
            <a:xfrm>
              <a:off x="-12700" y="0"/>
              <a:ext cx="12217400" cy="6858000"/>
              <a:chOff x="-12700" y="0"/>
              <a:chExt cx="12217400" cy="6858000"/>
            </a:xfrm>
          </p:grpSpPr>
          <p:pic>
            <p:nvPicPr>
              <p:cNvPr id="4" name="Picture 4"/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930399" y="0"/>
                <a:ext cx="10287000" cy="685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sp>
            <p:nvSpPr>
              <p:cNvPr id="5" name="AutoShape 5"/>
              <p:cNvSpPr/>
              <p:nvPr/>
            </p:nvSpPr>
            <p:spPr>
              <a:xfrm>
                <a:off x="-12700" y="0"/>
                <a:ext cx="12217400" cy="6858000"/>
              </a:xfrm>
              <a:prstGeom prst="rect">
                <a:avLst/>
              </a:prstGeom>
              <a:gradFill>
                <a:gsLst>
                  <a:gs pos="23999">
                    <a:srgbClr val="080808">
                      <a:alpha val="100000"/>
                    </a:srgbClr>
                  </a:gs>
                  <a:gs pos="69999">
                    <a:srgbClr val="080808">
                      <a:alpha val="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9814981" cy="6858001"/>
              <a:chOff x="0" y="0"/>
              <a:chExt cx="9814981" cy="6858001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0" y="0"/>
                <a:ext cx="6934198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6874777" h="6831204">
                    <a:moveTo>
                      <a:pt x="3848267" y="0"/>
                    </a:moveTo>
                    <a:lnTo>
                      <a:pt x="6874777" y="0"/>
                    </a:lnTo>
                    <a:lnTo>
                      <a:pt x="6873339" y="169468"/>
                    </a:lnTo>
                    <a:cubicBezTo>
                      <a:pt x="6848685" y="1123887"/>
                      <a:pt x="6625177" y="2079303"/>
                      <a:pt x="6195608" y="2972028"/>
                    </a:cubicBezTo>
                    <a:cubicBezTo>
                      <a:pt x="5193281" y="5055052"/>
                      <a:pt x="3224194" y="6474367"/>
                      <a:pt x="977739" y="6796648"/>
                    </a:cubicBezTo>
                    <a:lnTo>
                      <a:pt x="655875" y="6831204"/>
                    </a:lnTo>
                    <a:lnTo>
                      <a:pt x="1" y="6831204"/>
                    </a:lnTo>
                    <a:lnTo>
                      <a:pt x="0" y="3841089"/>
                    </a:lnTo>
                    <a:cubicBezTo>
                      <a:pt x="1479446" y="3841089"/>
                      <a:pt x="2828050" y="2993410"/>
                      <a:pt x="3469540" y="1660274"/>
                    </a:cubicBezTo>
                    <a:cubicBezTo>
                      <a:pt x="3710099" y="1160348"/>
                      <a:pt x="3835263" y="625315"/>
                      <a:pt x="3849070" y="90841"/>
                    </a:cubicBezTo>
                    <a:close/>
                  </a:path>
                </a:pathLst>
              </a:custGeom>
              <a:solidFill>
                <a:srgbClr val="09258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7979157" y="5928784"/>
                <a:ext cx="1835824" cy="929217"/>
              </a:xfrm>
              <a:custGeom>
                <a:avLst/>
                <a:gdLst/>
                <a:ahLst/>
                <a:cxnLst/>
                <a:rect l="l" t="t" r="r" b="b"/>
                <a:pathLst>
                  <a:path w="1835824" h="929217">
                    <a:moveTo>
                      <a:pt x="917912" y="0"/>
                    </a:moveTo>
                    <a:cubicBezTo>
                      <a:pt x="1424861" y="0"/>
                      <a:pt x="1835824" y="410963"/>
                      <a:pt x="1835824" y="917912"/>
                    </a:cubicBezTo>
                    <a:lnTo>
                      <a:pt x="1835253" y="929217"/>
                    </a:lnTo>
                    <a:lnTo>
                      <a:pt x="1372240" y="929217"/>
                    </a:lnTo>
                    <a:lnTo>
                      <a:pt x="1373380" y="917912"/>
                    </a:lnTo>
                    <a:cubicBezTo>
                      <a:pt x="1373380" y="666364"/>
                      <a:pt x="1169460" y="462444"/>
                      <a:pt x="917912" y="462444"/>
                    </a:cubicBezTo>
                    <a:cubicBezTo>
                      <a:pt x="666364" y="462444"/>
                      <a:pt x="462444" y="666364"/>
                      <a:pt x="462444" y="917912"/>
                    </a:cubicBezTo>
                    <a:lnTo>
                      <a:pt x="463584" y="929217"/>
                    </a:lnTo>
                    <a:lnTo>
                      <a:pt x="571" y="929217"/>
                    </a:lnTo>
                    <a:lnTo>
                      <a:pt x="0" y="917912"/>
                    </a:lnTo>
                    <a:cubicBezTo>
                      <a:pt x="0" y="410963"/>
                      <a:pt x="410963" y="0"/>
                      <a:pt x="917912" y="0"/>
                    </a:cubicBezTo>
                    <a:close/>
                  </a:path>
                </a:pathLst>
              </a:custGeom>
              <a:solidFill>
                <a:srgbClr val="0E58B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1278" y="1851949"/>
            <a:ext cx="5435600" cy="14954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3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嵌入式驱动优化与车家一体化控制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081278" y="3510583"/>
            <a:ext cx="5435600" cy="818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深入探讨GPIO、中断、定时器的高性能优化策略，实现车家一体化协同控制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81278" y="558546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10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授课地点武汉大学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1081278" y="585978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dirty="0">
                <a:latin typeface="微软雅黑"/>
                <a:ea typeface="微软雅黑"/>
                <a:cs typeface="微软雅黑"/>
              </a:rPr>
              <a:t>2026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年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5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月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19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a807519-2f4e-4b1c-979e-808edf3bcda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1" y="0"/>
            <a:ext cx="12191999" cy="6858001"/>
            <a:chOff x="1" y="0"/>
            <a:chExt cx="12191999" cy="6858001"/>
          </a:xfrm>
        </p:grpSpPr>
        <p:sp>
          <p:nvSpPr>
            <p:cNvPr id="4" name="AutoShape 4"/>
            <p:cNvSpPr/>
            <p:nvPr/>
          </p:nvSpPr>
          <p:spPr>
            <a:xfrm>
              <a:off x="660400" y="1130300"/>
              <a:ext cx="6883400" cy="900112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543800" y="0"/>
              <a:ext cx="4648200" cy="3082750"/>
            </a:xfrm>
            <a:custGeom>
              <a:avLst/>
              <a:gdLst/>
              <a:ahLst/>
              <a:cxnLst/>
              <a:rect l="l" t="t" r="r" b="b"/>
              <a:pathLst>
                <a:path w="5023316" h="3331532">
                  <a:moveTo>
                    <a:pt x="17142" y="0"/>
                  </a:moveTo>
                  <a:lnTo>
                    <a:pt x="5023316" y="0"/>
                  </a:lnTo>
                  <a:lnTo>
                    <a:pt x="5023316" y="2558381"/>
                  </a:lnTo>
                  <a:lnTo>
                    <a:pt x="4929670" y="2643492"/>
                  </a:lnTo>
                  <a:cubicBezTo>
                    <a:pt x="4408833" y="3073325"/>
                    <a:pt x="3741108" y="3331532"/>
                    <a:pt x="3013075" y="3331532"/>
                  </a:cubicBezTo>
                  <a:cubicBezTo>
                    <a:pt x="1349000" y="3331532"/>
                    <a:pt x="0" y="1982532"/>
                    <a:pt x="0" y="318457"/>
                  </a:cubicBezTo>
                  <a:cubicBezTo>
                    <a:pt x="0" y="214452"/>
                    <a:pt x="5270" y="111679"/>
                    <a:pt x="15556" y="10388"/>
                  </a:cubicBezTo>
                  <a:close/>
                </a:path>
              </a:pathLst>
            </a:custGeom>
            <a:solidFill>
              <a:srgbClr val="2CBEC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" y="2894182"/>
              <a:ext cx="1651731" cy="3963819"/>
            </a:xfrm>
            <a:custGeom>
              <a:avLst/>
              <a:gdLst/>
              <a:ahLst/>
              <a:cxnLst/>
              <a:rect l="l" t="t" r="r" b="b"/>
              <a:pathLst>
                <a:path w="1651731" h="3963819">
                  <a:moveTo>
                    <a:pt x="0" y="0"/>
                  </a:moveTo>
                  <a:lnTo>
                    <a:pt x="73205" y="35264"/>
                  </a:lnTo>
                  <a:cubicBezTo>
                    <a:pt x="1013446" y="546034"/>
                    <a:pt x="1651731" y="1542212"/>
                    <a:pt x="1651731" y="2687469"/>
                  </a:cubicBezTo>
                  <a:cubicBezTo>
                    <a:pt x="1651731" y="3103927"/>
                    <a:pt x="1567330" y="3500671"/>
                    <a:pt x="1414699" y="3861530"/>
                  </a:cubicBezTo>
                  <a:lnTo>
                    <a:pt x="1365424" y="3963819"/>
                  </a:lnTo>
                  <a:lnTo>
                    <a:pt x="0" y="3963819"/>
                  </a:lnTo>
                  <a:close/>
                </a:path>
              </a:pathLst>
            </a:custGeom>
            <a:blipFill rotWithShape="1">
              <a:blip r:embed="rId2">
                <a:alphaModFix/>
                <a:alphaModFix/>
              </a:blip>
              <a:stretch>
                <a:fillRect l="-37726" r="-37726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3195667" y="2692991"/>
              <a:ext cx="5711481" cy="738884"/>
              <a:chOff x="3971955" y="3430347"/>
              <a:chExt cx="5711481" cy="73888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4434421" y="3430347"/>
                <a:ext cx="5249015" cy="7388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关键外设模块优化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971955" y="3568556"/>
                <a:ext cx="462466" cy="462466"/>
              </a:xfrm>
              <a:prstGeom prst="ellipse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808910" y="3837946"/>
              <a:ext cx="5711481" cy="738884"/>
              <a:chOff x="3971955" y="3430347"/>
              <a:chExt cx="5711481" cy="73888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434421" y="3430347"/>
                <a:ext cx="5249015" cy="7388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多设备协同控制重构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971955" y="3568556"/>
                <a:ext cx="462466" cy="462466"/>
              </a:xfrm>
              <a:prstGeom prst="ellipse">
                <a:avLst/>
              </a:prstGeom>
              <a:solidFill>
                <a:srgbClr val="FFA2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422153" y="4982901"/>
              <a:ext cx="5711481" cy="738884"/>
              <a:chOff x="3971955" y="3430347"/>
              <a:chExt cx="5711481" cy="73888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434421" y="3430347"/>
                <a:ext cx="5249015" cy="73888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车家一体化系统集成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971955" y="3568556"/>
                <a:ext cx="462466" cy="462466"/>
              </a:xfrm>
              <a:prstGeom prst="ellipse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170" y="1617684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关键外设模块优化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57170" y="2994789"/>
            <a:ext cx="5435600" cy="2743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针对GPIO、中断、定时器进行深度优化，构建高可靠、低延迟的底层驱动框架，提升系统实时性与资源利用效率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3f6b8e-1c35-4ec8-a137-f4f64c05d7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4"/>
            <a:ext cx="10858501" cy="5003796"/>
            <a:chOff x="660399" y="1130304"/>
            <a:chExt cx="10858501" cy="5003796"/>
          </a:xfrm>
        </p:grpSpPr>
        <p:sp>
          <p:nvSpPr>
            <p:cNvPr id="4" name="AutoShape 4"/>
            <p:cNvSpPr/>
            <p:nvPr/>
          </p:nvSpPr>
          <p:spPr>
            <a:xfrm>
              <a:off x="1787076" y="3346423"/>
              <a:ext cx="2632524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915441" y="3346423"/>
              <a:ext cx="234359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741405" y="3346423"/>
              <a:ext cx="2650819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实现微秒级精确时序输出，确保信号完整性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3105239"/>
              <a:ext cx="2405752" cy="3028861"/>
              <a:chOff x="402360" y="3105239"/>
              <a:chExt cx="2405752" cy="302886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02360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时序依赖因素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02360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延时精度依赖于CPU主频、指令执行周期和编译器优化级别，需结合流水线与缓存行为综合考量。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477983" y="3105239"/>
              <a:ext cx="2405752" cy="3028861"/>
              <a:chOff x="2643678" y="3105239"/>
              <a:chExt cx="2405752" cy="302886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43678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精确延时实现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43678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利用SysTick定时器配置为每100微秒产生一次更新中断，通过调整Period值精确控制中断间隔，形成连续的微秒计时基准。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295566" y="3105239"/>
              <a:ext cx="2405752" cy="3028861"/>
              <a:chOff x="4884996" y="3105239"/>
              <a:chExt cx="2405752" cy="3028861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84996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关键代码示例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884996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`SysTick_Config(SystemCoreClock / 10000);` // 配置为100μs中断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113148" y="3105239"/>
              <a:ext cx="2405752" cy="3028861"/>
              <a:chOff x="7126314" y="3105239"/>
              <a:chExt cx="2405752" cy="302886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26314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实践校准方法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126314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建议通过逻辑分析仪测量真实延时偏差，对循环次数的估算系数（如除以5）进行实测校准，确保满足时序要求。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GPIO电平精准控制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6e18ec2-eb76-4b5a-afc5-9bbcf3ed8bbf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0" cy="5003800"/>
            <a:chOff x="660399" y="1130300"/>
            <a:chExt cx="10858500" cy="5003800"/>
          </a:xfrm>
        </p:grpSpPr>
        <p:grpSp>
          <p:nvGrpSpPr>
            <p:cNvPr id="4" name="Group 4"/>
            <p:cNvGrpSpPr/>
            <p:nvPr/>
          </p:nvGrpSpPr>
          <p:grpSpPr>
            <a:xfrm>
              <a:off x="1049196" y="2148654"/>
              <a:ext cx="4624420" cy="1811994"/>
              <a:chOff x="1611862" y="2101850"/>
              <a:chExt cx="3560234" cy="1905602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中断优先级管理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引入多级优先级队列，确保关键任务（如安防布防）能够优先得到处理，避免低优先级任务阻塞系统资源。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505684" y="2148654"/>
              <a:ext cx="4624420" cy="1811994"/>
              <a:chOff x="3645551" y="2101850"/>
              <a:chExt cx="3560234" cy="1905602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3707303" y="2698750"/>
                <a:ext cx="3409015" cy="49892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645552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49917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边沿触发优化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645551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配置EXTI控制器为上升沿或下降沿触发模式，从中断发生到跳转ISR通常只需6~12个时钟周期，实现低延迟响应。</a:t>
                </a:r>
                <a:endParaRPr lang="en-US" sz="1100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60399" y="1130300"/>
              <a:ext cx="10858500" cy="56757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降低中断延迟，提升系统实时响应能力</a:t>
              </a:r>
              <a:endParaRPr lang="en-US" sz="1100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049196" y="4322106"/>
              <a:ext cx="4624420" cy="1811994"/>
              <a:chOff x="1611862" y="2101850"/>
              <a:chExt cx="3560234" cy="1905602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1673613" y="2698750"/>
                <a:ext cx="3409015" cy="49892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611863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16228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中断服务程序设计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611862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拆分中断处理逻辑，顶半部仅处理紧急操作（如清中断标志），底半部处理非紧急操作，缩短中断禁用时间。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505371" y="4322106"/>
              <a:ext cx="4624420" cy="1811994"/>
              <a:chOff x="3645224" y="2101850"/>
              <a:chExt cx="3560234" cy="1905602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3706976" y="2698750"/>
                <a:ext cx="3409015" cy="49892"/>
              </a:xfrm>
              <a:prstGeom prst="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645225" y="2101850"/>
                <a:ext cx="648561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49590" y="2101850"/>
                <a:ext cx="2855868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NVIC配置要点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645224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通过`NVIC_SetPriority()`设置中断优先级，数值越小优先级越高；使用`NVIC_EnableIRQ()`开启中断通道。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中断响应机制优化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5506872-d587-4686-861f-af396f94bc5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实现精准的周期性任务调度与信号生成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301598" y="1944181"/>
              <a:ext cx="4296598" cy="1840419"/>
              <a:chOff x="1807597" y="1944181"/>
              <a:chExt cx="4296598" cy="184041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807597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定时器工作模式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807597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配置定时器为16位或32位工作模式，计算初值以实现精确的定时周期，如500ms。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894627" y="1944181"/>
                <a:ext cx="462466" cy="46246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581104" y="1944181"/>
              <a:ext cx="4296598" cy="1840419"/>
              <a:chOff x="2634909" y="1944181"/>
              <a:chExt cx="4296598" cy="184041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2634909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PWM波形生成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634909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通过定时器中断控制GPIO电平翻转，实现PWM输出。例如，200Hz信号周期为5ms，50%占空比则高/低电平各2.5ms。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721941" y="1944181"/>
                <a:ext cx="462466" cy="46246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301598" y="4293681"/>
              <a:ext cx="4296598" cy="1840419"/>
              <a:chOff x="1807597" y="1944181"/>
              <a:chExt cx="4296598" cy="1840419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807597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PWM应用场景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07597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PWM信号广泛用于驱动无源蜂鸣器、直流电机调速、LED亮度调节等场景，是嵌入式开发的核心技术。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94627" y="1944181"/>
                <a:ext cx="462466" cy="46246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581104" y="4293681"/>
              <a:ext cx="4296598" cy="1840419"/>
              <a:chOff x="2634909" y="1944181"/>
              <a:chExt cx="4296598" cy="184041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2634909" y="2406647"/>
                <a:ext cx="4296598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代码实现示例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634909" y="2842665"/>
                <a:ext cx="4296598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定时器0每2.5ms触发一次中断，在中断服务函数中翻转GPIO电平，即可得到200Hz、50%占空比的PWM方波。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21941" y="1944181"/>
                <a:ext cx="462466" cy="46246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sp>
          <p:nvSpPr>
            <p:cNvPr id="21" name="AutoShape 21"/>
            <p:cNvSpPr/>
            <p:nvPr/>
          </p:nvSpPr>
          <p:spPr>
            <a:xfrm>
              <a:off x="660400" y="3981370"/>
              <a:ext cx="10858500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定时器调度与PWM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170" y="1617684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多设备协同控制重构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57170" y="2994789"/>
            <a:ext cx="5435600" cy="2743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对原有控制逻辑进行模块化、事件驱动式重构，采用状态机模型统一管理设备行为，增强系统的可扩展性与稳定性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160acc2-4dac-4232-9c14-968ebf177f7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AutoShape 4"/>
            <p:cNvSpPr/>
            <p:nvPr/>
          </p:nvSpPr>
          <p:spPr>
            <a:xfrm>
              <a:off x="660400" y="3044858"/>
              <a:ext cx="10858500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采用事件驱动架构，实现任务解耦与异步通信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400" y="2312472"/>
              <a:ext cx="3180182" cy="3821628"/>
              <a:chOff x="580762" y="2312472"/>
              <a:chExt cx="3180182" cy="3821628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事件驱动架构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系统功能被抽象为独立的、可插拔的模块，如设备管理、自动化引擎等，通过消息总线进行事件通知和数据交换。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499559" y="2312472"/>
              <a:ext cx="3180182" cy="3821628"/>
              <a:chOff x="580762" y="2312472"/>
              <a:chExt cx="3180182" cy="3821628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模块间依赖关系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自动化引擎依赖设备管理模块提供的状态信息，并通过其接口执行控制命令；各模块通过消息总线实现松耦合通信。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338718" y="2312472"/>
              <a:ext cx="3180182" cy="3821628"/>
              <a:chOff x="580762" y="2312472"/>
              <a:chExt cx="3180182" cy="3821628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80762" y="4090070"/>
                <a:ext cx="318018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接口定义与调用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80762" y="4864941"/>
                <a:ext cx="318018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设备管理模块提供`light.turn_on`等标准服务接口，自动化引擎调用这些接口执行具体操作，形成闭环控制。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控制逻辑模块化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c98c1a-c8b5-4d44-8c73-7ddc1e4069a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2"/>
            <a:ext cx="10858500" cy="4870448"/>
            <a:chOff x="660400" y="1130302"/>
            <a:chExt cx="10858500" cy="4870448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2"/>
              <a:ext cx="10858500" cy="7335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统一管理设备行为，支持跨平台灵活配置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26752" y="2254250"/>
              <a:ext cx="3282110" cy="3746500"/>
              <a:chOff x="1393825" y="2254250"/>
              <a:chExt cx="2978838" cy="374650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1393825" y="2254250"/>
                <a:ext cx="2978837" cy="374650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017ED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502740" y="3254312"/>
                <a:ext cx="276100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设备信息模型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02740" y="3902312"/>
                <a:ext cx="2761009" cy="1939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1C526D">
                      <a:alpha val="100000"/>
                    </a:srgbClr>
                  </a:buClr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定义统一的设备描述模型，抽象设备的能力、属性和控制方法，为上层应用提供一致的设备操作接口。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93826" y="2611569"/>
                <a:ext cx="2978837" cy="542988"/>
              </a:xfrm>
              <a:prstGeom prst="rect">
                <a:avLst/>
              </a:prstGeom>
              <a:solidFill>
                <a:srgbClr val="017EDC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48594" y="2254250"/>
              <a:ext cx="3282110" cy="3746500"/>
              <a:chOff x="4801843" y="2254250"/>
              <a:chExt cx="2978838" cy="37465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801843" y="2254250"/>
                <a:ext cx="2978837" cy="374650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017ED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910758" y="3254312"/>
                <a:ext cx="276100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状态同步与维护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910758" y="3902312"/>
                <a:ext cx="2761009" cy="1939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1C526D">
                      <a:alpha val="100000"/>
                    </a:srgbClr>
                  </a:buClr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实时监控并维护所有设备的在线状态和属性信息，确保平台与设备状态的一致性，为自动化决策提供准确依据。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801844" y="2611569"/>
                <a:ext cx="2978837" cy="542988"/>
              </a:xfrm>
              <a:prstGeom prst="rect">
                <a:avLst/>
              </a:prstGeom>
              <a:solidFill>
                <a:srgbClr val="017EDC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170438" y="2254250"/>
              <a:ext cx="3282110" cy="3746500"/>
              <a:chOff x="8209862" y="2254250"/>
              <a:chExt cx="2978838" cy="3746500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209862" y="2254250"/>
                <a:ext cx="2978837" cy="374650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 w="15875">
                <a:solidFill>
                  <a:srgbClr val="017ED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18776" y="3254312"/>
                <a:ext cx="276100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统一控制接口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8776" y="3902312"/>
                <a:ext cx="2761009" cy="1939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1C526D">
                      <a:alpha val="100000"/>
                    </a:srgbClr>
                  </a:buClr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设计统一的设备控制接口与事件分发机制，支持跨平台、跨设备的灵活配置与动态加载，提升系统可扩展性。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209863" y="2611569"/>
                <a:ext cx="2978837" cy="542988"/>
              </a:xfrm>
              <a:prstGeom prst="rect">
                <a:avLst/>
              </a:prstGeom>
              <a:solidFill>
                <a:srgbClr val="017EDC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状态机模型应用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170" y="1617684"/>
            <a:ext cx="5435600" cy="1371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车家一体化系统集成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57170" y="2994789"/>
            <a:ext cx="5435600" cy="2743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基于优化与重构成果，开发车家一体化控制系统，打通车载设备与智能家居平台之间的控制链路，实现双向协同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b83f3a-23a7-42eb-b924-8eeaf4f9b57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4173220"/>
            <a:chOff x="660400" y="1130300"/>
            <a:chExt cx="10858500" cy="4173220"/>
          </a:xfrm>
        </p:grpSpPr>
        <p:grpSp>
          <p:nvGrpSpPr>
            <p:cNvPr id="4" name="Group 4"/>
            <p:cNvGrpSpPr/>
            <p:nvPr/>
          </p:nvGrpSpPr>
          <p:grpSpPr>
            <a:xfrm>
              <a:off x="660401" y="2322732"/>
              <a:ext cx="3510074" cy="2961943"/>
              <a:chOff x="660400" y="1130300"/>
              <a:chExt cx="4320540" cy="296194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1206499"/>
                <a:ext cx="4320540" cy="2885744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660400" y="1130300"/>
                <a:ext cx="4320540" cy="2885744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574800" y="1457405"/>
                <a:ext cx="3271520" cy="5682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车辆触发家居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74800" y="2025618"/>
                <a:ext cx="3271518" cy="16761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系统检测到车辆熄火或离家时，自动执行节能与安防操作，如关闭灯光、调节空调、启动离家布防。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2551" y="1476250"/>
                <a:ext cx="832246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ln/>
                    <a:solidFill>
                      <a:srgbClr val="017EDC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334613" y="2341577"/>
              <a:ext cx="3510074" cy="2961943"/>
              <a:chOff x="660400" y="2875281"/>
              <a:chExt cx="4320540" cy="296194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60400" y="2951480"/>
                <a:ext cx="4320540" cy="2885744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660400" y="2875281"/>
                <a:ext cx="4320540" cy="2885744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574800" y="3202386"/>
                <a:ext cx="3271520" cy="5682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家居联动车辆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74800" y="3770599"/>
                <a:ext cx="3271518" cy="16761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当家居环境变化时，如室内温度过高，系统可反向联动车辆，远程启动车辆空调进行预降温。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2551" y="3221231"/>
                <a:ext cx="832246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ln/>
                    <a:solidFill>
                      <a:srgbClr val="017EDC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008826" y="2341577"/>
              <a:ext cx="3510074" cy="2961943"/>
              <a:chOff x="660400" y="2875281"/>
              <a:chExt cx="4320540" cy="2961943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660400" y="2951480"/>
                <a:ext cx="4320540" cy="2885744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660400" y="2875281"/>
                <a:ext cx="4320540" cy="2885744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574800" y="3202386"/>
                <a:ext cx="3271520" cy="5682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场景联动示例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74800" y="3770599"/>
                <a:ext cx="3271518" cy="16761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“回家迎接”场景：当车辆到家，系统自动打开玄关灯光、调节客厅温度，并播放欢迎视频，营造温馨氛围。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2551" y="3221231"/>
                <a:ext cx="832246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ln/>
                    <a:solidFill>
                      <a:srgbClr val="017EDC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60400" y="1130300"/>
              <a:ext cx="10858500" cy="110743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实现车辆状态与家居环境的双向联动</a:t>
              </a:r>
              <a:endParaRPr lang="en-US" sz="110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双向协同控制逻辑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55749d-58bc-43fa-9c5e-7c2ac3c9bf1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494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构建安全、高效、无缝衔接的车家互联底层架构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H="1">
              <a:off x="660400" y="3478971"/>
              <a:ext cx="10858500" cy="0"/>
            </a:xfrm>
            <a:prstGeom prst="line">
              <a:avLst/>
            </a:prstGeom>
            <a:ln w="12700">
              <a:solidFill>
                <a:srgbClr val="3436A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754728" y="1959941"/>
              <a:ext cx="3185294" cy="4174159"/>
              <a:chOff x="420899" y="1959941"/>
              <a:chExt cx="3185294" cy="417415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420899" y="3759201"/>
                <a:ext cx="3185294" cy="71329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本地化处理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20899" y="4472492"/>
                <a:ext cx="3185294" cy="16616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核心决策与数据处理在本地完成，无需依赖云端，显著降低网络延迟，提升响应速度，并保障用户数据隐私。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20899" y="1959941"/>
                <a:ext cx="3185294" cy="1311651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524677" y="1959941"/>
              <a:ext cx="3200109" cy="4174159"/>
              <a:chOff x="3146874" y="1959941"/>
              <a:chExt cx="3200109" cy="417415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146874" y="3759201"/>
                <a:ext cx="3185294" cy="71329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安全通信保障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146874" y="4472492"/>
                <a:ext cx="3185294" cy="16616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采用MQTT等轻量级协议进行内部通信，结合TLS/SSL加密传输，确保指令的可靠到达与数据安全。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161689" y="1959941"/>
                <a:ext cx="3185294" cy="1311651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209645" y="1959941"/>
              <a:ext cx="3214927" cy="4174159"/>
              <a:chOff x="5872847" y="1959941"/>
              <a:chExt cx="3214927" cy="417415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872847" y="3759201"/>
                <a:ext cx="3185294" cy="71329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系统测试验证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72847" y="4472492"/>
                <a:ext cx="3185294" cy="16616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通过单元测试、集成测试和场景测试，全面验证系统的功能正确性、性能表现与稳定性，确保安全可靠。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902480" y="1959941"/>
                <a:ext cx="3185294" cy="1311651"/>
              </a:xfrm>
              <a:prstGeom prst="roundRect">
                <a:avLst/>
              </a:prstGeom>
              <a:solidFill>
                <a:srgbClr val="017E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通信协议与安全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2198" y="1320800"/>
            <a:ext cx="5842000" cy="2997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092198" y="558546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10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授课地点武汉大学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1092198" y="585978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5c9e747-4703-4c9a-8397-5206ebe5bd5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421</Words>
  <Application>Microsoft Office PowerPoint</Application>
  <PresentationFormat>宽屏</PresentationFormat>
  <Paragraphs>116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微软雅黑</vt:lpstr>
      <vt:lpstr>Arial</vt:lpstr>
      <vt:lpstr>Calibri</vt:lpstr>
      <vt:lpstr>05c9e747-4703-4c9a-8397-5206ebe5bd54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xiuyun lu</cp:lastModifiedBy>
  <cp:revision>2</cp:revision>
  <dcterms:created xsi:type="dcterms:W3CDTF">2006-08-16T00:00:00Z</dcterms:created>
  <dcterms:modified xsi:type="dcterms:W3CDTF">2026-05-14T13:23:16Z</dcterms:modified>
</cp:coreProperties>
</file>